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O(log n)</c:v>
                </c:pt>
              </c:strCache>
            </c:strRef>
          </c:tx>
          <c:spPr>
            <a:solidFill>
              <a:srgbClr val="17B6A7"/>
            </a:solidFill>
            <a:ln w="38100" cap="flat">
              <a:solidFill>
                <a:srgbClr val="17B6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7B6A7"/>
              </a:solidFill>
              <a:ln w="9525" cap="flat">
                <a:solidFill>
                  <a:srgbClr val="17B6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2.58</c:v>
                </c:pt>
                <c:pt idx="4">
                  <c:v>3</c:v>
                </c:pt>
                <c:pt idx="5">
                  <c:v>3.32</c:v>
                </c:pt>
                <c:pt idx="6">
                  <c:v>3.58</c:v>
                </c:pt>
                <c:pt idx="7">
                  <c:v>3.81</c:v>
                </c:pt>
                <c:pt idx="8">
                  <c:v>4</c:v>
                </c:pt>
                <c:pt idx="9">
                  <c:v>4.17</c:v>
                </c:pt>
                <c:pt idx="10">
                  <c:v>4.32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O(n)</c:v>
                </c:pt>
              </c:strCache>
            </c:strRef>
          </c:tx>
          <c:spPr>
            <a:solidFill>
              <a:srgbClr val="2E7DD1"/>
            </a:solidFill>
            <a:ln w="38100" cap="flat">
              <a:solidFill>
                <a:srgbClr val="2E7D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DD1"/>
              </a:solidFill>
              <a:ln w="9525" cap="flat">
                <a:solidFill>
                  <a:srgbClr val="2E7D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O(n log n)</c:v>
                </c:pt>
              </c:strCache>
            </c:strRef>
          </c:tx>
          <c:spPr>
            <a:solidFill>
              <a:srgbClr val="F5A623"/>
            </a:solidFill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2</c:v>
                </c:pt>
                <c:pt idx="2">
                  <c:v>8</c:v>
                </c:pt>
                <c:pt idx="3">
                  <c:v>15.5</c:v>
                </c:pt>
                <c:pt idx="4">
                  <c:v>24</c:v>
                </c:pt>
                <c:pt idx="5">
                  <c:v>33.2</c:v>
                </c:pt>
                <c:pt idx="6">
                  <c:v>43</c:v>
                </c:pt>
                <c:pt idx="7">
                  <c:v>53.3</c:v>
                </c:pt>
                <c:pt idx="8">
                  <c:v>64</c:v>
                </c:pt>
                <c:pt idx="9">
                  <c:v>75.1</c:v>
                </c:pt>
                <c:pt idx="10">
                  <c:v>86.4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O(n²)</c:v>
                </c:pt>
              </c:strCache>
            </c:strRef>
          </c:tx>
          <c:spPr>
            <a:solidFill>
              <a:srgbClr val="FF5A4E"/>
            </a:solidFill>
            <a:ln w="38100" cap="flat">
              <a:solidFill>
                <a:srgbClr val="FF5A4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3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5A4E"/>
              </a:solidFill>
              <a:ln w="9525" cap="flat">
                <a:solidFill>
                  <a:srgbClr val="FF5A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1</c:v>
                </c:pt>
                <c:pt idx="1">
                  <c:v>4</c:v>
                </c:pt>
                <c:pt idx="2">
                  <c:v>16</c:v>
                </c:pt>
                <c:pt idx="3">
                  <c:v>36</c:v>
                </c:pt>
                <c:pt idx="4">
                  <c:v>64</c:v>
                </c:pt>
                <c:pt idx="5">
                  <c:v>100</c:v>
                </c:pt>
                <c:pt idx="6">
                  <c:v>144</c:v>
                </c:pt>
                <c:pt idx="7">
                  <c:v>196</c:v>
                </c:pt>
                <c:pt idx="8">
                  <c:v>256</c:v>
                </c:pt>
                <c:pt idx="9">
                  <c:v>324</c:v>
                </c:pt>
                <c:pt idx="10">
                  <c:v>400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33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Input size (n)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9ECF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Number of operations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B2A5C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291840" cy="3291840"/>
          </a:xfrm>
          <a:prstGeom prst="ellipse">
            <a:avLst/>
          </a:prstGeom>
          <a:solidFill>
            <a:srgbClr val="1B2A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B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Functions &amp; Algorithm Efficiency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O(log n), O(n), O(n log n), O(n²) and O(2ⁿ) to understand how algorithms scale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20624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1B2A5C"/>
          </a:solidFill>
          <a:ln w="19050">
            <a:solidFill>
              <a:srgbClr val="17B6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06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21992" y="420624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1B2A5C"/>
          </a:solidFill>
          <a:ln w="19050">
            <a:solidFill>
              <a:srgbClr val="17B6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21992" y="4206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03904" y="420624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1B2A5C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3904" y="4206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85816" y="420624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1B2A5C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85816" y="4206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67728" y="420624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1B2A5C"/>
          </a:solidFill>
          <a:ln w="19050">
            <a:solidFill>
              <a:srgbClr val="FF5A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67728" y="42062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O(2ⁿ)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Algorithm Efficiency &amp; Complexity Analysis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Compare Growth Functions?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B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this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111A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733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speed before running the code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207568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run time changes as input (n) grows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111A3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7706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algorithms fairly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31729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problem, different algorithms — growth functions show which is faster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111A3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86791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algorithm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42702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choose the best option for the expected data size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111A3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9651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surprises at scale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34440" y="53675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“Fast enough” for 100 items can fail for 1,000,000 items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Growth Functions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simple words: what each notation means and where it shows up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754880"/>
        </p:xfrm>
        <a:graphic>
          <a:graphicData uri="http://schemas.openxmlformats.org/drawingml/2006/table">
            <a:tbl>
              <a:tblPr/>
              <a:tblGrid>
                <a:gridCol w="1554480"/>
                <a:gridCol w="1920240"/>
                <a:gridCol w="4937760"/>
                <a:gridCol w="2651760"/>
              </a:tblGrid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simple words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D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B6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Logarithmic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Cuts problem in half each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B6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 same speed as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Linearithmic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little more than 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sort, quicksort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 by the square of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Bubble sort, nested loops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5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O(2ⁿ)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Doubles with each extra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Brute-force, naive recursion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Running Time Grows With Input Size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n), O(n), O(n log n) and O(n²) plotted for n = 1 to 20 — O(2ⁿ) is left off this chart because it grows too fast to plot on the same scale (see next slide)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110642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Behind the Curves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operation counts at three input sizes — notice how O(2ⁿ) overtakes everything else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31520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1764792"/>
                <a:gridCol w="1764792"/>
                <a:gridCol w="1773936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B6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B6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5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O(2ⁿ)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1,048,576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1,073,741,824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E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463040"/>
            <a:ext cx="3429000" cy="3657600"/>
          </a:xfrm>
          <a:prstGeom prst="roundRect">
            <a:avLst>
              <a:gd name="adj" fmla="val 2133"/>
            </a:avLst>
          </a:prstGeom>
          <a:solidFill>
            <a:srgbClr val="111A3D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B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 = 30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03920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needs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03920" y="2423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900 steps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503920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O(2ⁿ) needs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03920" y="33375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billion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50392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— for the exact same input size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503920" y="4343400"/>
            <a:ext cx="2834640" cy="0"/>
          </a:xfrm>
          <a:prstGeom prst="line">
            <a:avLst/>
          </a:prstGeom>
          <a:noFill/>
          <a:ln w="12700">
            <a:solidFill>
              <a:srgbClr val="1B2A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0" y="44805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computer does ~10⁹ simple operations per second, so 1 billion steps still takes real, noticeable time — and it only gets worse as n grows.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Functions Stay Practical at Large Scale?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4924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9050">
            <a:solidFill>
              <a:srgbClr val="17B6A7"/>
            </a:solidFill>
            <a:prstDash val="solid"/>
          </a:ln>
          <a:effectLst>
            <a:outerShdw sx="100000" sy="100000" kx="0" ky="0" algn="bl" rotWithShape="0" blurRad="101600" dist="38100" dir="5400000">
              <a:srgbClr val="999999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7B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FOR LARGE 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4617720" cy="1234440"/>
          </a:xfrm>
          <a:prstGeom prst="roundRect">
            <a:avLst>
              <a:gd name="adj" fmla="val 4444"/>
            </a:avLst>
          </a:prstGeom>
          <a:solidFill>
            <a:srgbClr val="F6F8F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756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4231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Barely grows — doubling n adds just one step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3383280"/>
            <a:ext cx="4617720" cy="1234440"/>
          </a:xfrm>
          <a:prstGeom prst="roundRect">
            <a:avLst>
              <a:gd name="adj" fmla="val 4444"/>
            </a:avLst>
          </a:prstGeom>
          <a:solidFill>
            <a:srgbClr val="F6F8FC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4930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8404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in direct proportion — easy to predict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4800600"/>
            <a:ext cx="4617720" cy="1234440"/>
          </a:xfrm>
          <a:prstGeom prst="roundRect">
            <a:avLst>
              <a:gd name="adj" fmla="val 4444"/>
            </a:avLst>
          </a:prstGeom>
          <a:solidFill>
            <a:srgbClr val="F6F8FC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9103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52578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bit more than linear — still fine for huge 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234440"/>
            <a:ext cx="534924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9050">
            <a:solidFill>
              <a:srgbClr val="FF5A4E"/>
            </a:solidFill>
            <a:prstDash val="solid"/>
          </a:ln>
          <a:effectLst>
            <a:outerShdw sx="100000" sy="100000" kx="0" ky="0" algn="bl" rotWithShape="0" blurRad="101600" dist="38100" dir="5400000">
              <a:srgbClr val="999999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IMPRACTICAL FOR LARGE 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29400" y="1965960"/>
            <a:ext cx="4617720" cy="1234440"/>
          </a:xfrm>
          <a:prstGeom prst="roundRect">
            <a:avLst>
              <a:gd name="adj" fmla="val 4444"/>
            </a:avLst>
          </a:prstGeom>
          <a:solidFill>
            <a:srgbClr val="FFF3F1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20756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12280" y="24231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for small n, but doubling n — 4x the work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29400" y="3383280"/>
            <a:ext cx="4617720" cy="1234440"/>
          </a:xfrm>
          <a:prstGeom prst="roundRect">
            <a:avLst>
              <a:gd name="adj" fmla="val 4444"/>
            </a:avLst>
          </a:prstGeom>
          <a:solidFill>
            <a:srgbClr val="FFF3F1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34930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O(2ⁿ)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12280" y="38404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more inputs — becomes unsolvable in time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50749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work doubles or less → scales well. Work squares or explodes → doesn't scale.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Linking Growth Behavior to Algorithm Selection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pick, depending on the task and how large the input can get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709160"/>
        </p:xfrm>
        <a:graphic>
          <a:graphicData uri="http://schemas.openxmlformats.org/drawingml/2006/table">
            <a:tbl>
              <a:tblPr/>
              <a:tblGrid>
                <a:gridCol w="3931920"/>
                <a:gridCol w="2103120"/>
                <a:gridCol w="5029200"/>
              </a:tblGrid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Best-fit growth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3D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Searching a sorted 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7D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Halves the search space each step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Searching an unsorted 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7D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check every element once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Sorting a large 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7B6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 sorting at large scale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Comparing every pair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7B6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 only when n stays small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Trying every combination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O(2ⁿ)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 only for very small 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1B2A5C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572000"/>
            <a:ext cx="3657600" cy="3657600"/>
          </a:xfrm>
          <a:prstGeom prst="ellipse">
            <a:avLst/>
          </a:prstGeom>
          <a:solidFill>
            <a:srgbClr val="1B2A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B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Rate Should Drive Algorithm Choice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B2A5C"/>
          </a:solidFill>
          <a:ln w="12700">
            <a:solidFill>
              <a:srgbClr val="17B6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B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09397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fast and slow functions grows huge as n grows — not just “a bit slower.”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B2A5C"/>
          </a:solidFill>
          <a:ln w="12700">
            <a:solidFill>
              <a:srgbClr val="17B6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B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05409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n), O(n), O(n log n) stay fast even for millions of inputs — best for search and sort.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B2A5C"/>
          </a:solidFill>
          <a:ln w="12700">
            <a:solidFill>
              <a:srgbClr val="17B6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B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01421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works only for small/medium n. O(2ⁿ) works only for very small 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B2A5C"/>
          </a:solidFill>
          <a:ln w="12700">
            <a:solidFill>
              <a:srgbClr val="17B6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B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497433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an algorithm means picking a growth rate — know your input size first.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2026-07-20T03:59:39Z</dcterms:created>
  <dcterms:modified xsi:type="dcterms:W3CDTF">2026-07-20T03:59:39Z</dcterms:modified>
</cp:coreProperties>
</file>